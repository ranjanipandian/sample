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B0D1-45D2-9C0C-5D15-E4FCD16A0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FB831-BB3F-3F7D-55E0-0844B28BE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FB9A0-2A12-0AF3-0D86-AACD549E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F37E2-3FB4-5BC0-5BAC-7C6099BD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B213-6AEB-1A0D-6C74-E24C04A2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9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CC86-A67B-8F10-29A0-04A92B47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0E94F-D5C1-AC96-A238-78CB67B3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3B729-21B5-A274-6546-0CA98B53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EB0A4-8E40-EE75-8C0B-7DF3868A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29EBF-4B10-FE7D-6502-187AF48D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58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BFBD-7FC6-9DA3-6A11-F442C8FD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5B8C1-7A90-D84C-9F29-AECC8A91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DE365-B678-1B4D-62A8-A10EDDB4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6183D-0BD5-1AC9-4AA6-40CE1D46C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7B0F2-28AF-F552-126D-318BB264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1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56FA-79A3-B63B-5A5E-1D40E988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9561-2856-572C-ACD8-72435BC55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B389F-66CA-EFF4-C403-F0BDCA9B8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EA36B-0339-FF63-7E6B-CC1A54BD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E28FE-6541-4633-E0E2-13A02155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C8A4C-AD7E-46B6-8658-DB51C5F4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75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BAF7-30CF-6B4A-3E5C-68C45704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2594B-F40C-CD3D-BABA-F5916458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AF7E6-F250-3361-E4AC-071D39393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E25C6-9D7D-129A-E6BB-A3A92E7F7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5A896-8B84-0D4D-5431-FEC337DE2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2E996-275D-3255-C027-170BC1FA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32C15-2436-B386-6961-22C20E08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27C29-A123-2515-E8B5-459ADFDE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09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B50C-A602-AEFF-7EB4-852029A78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B0064-C8D5-7396-A3D7-FF8C9DA2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F250A-CC9B-B747-92C9-7C019281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C6E2B-E4FF-4FFB-627F-325806F5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9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DDDBB-0756-24D9-E685-C056EB90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AE6A5-26B4-E977-CE7B-C1C8D2D0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8C08B-A861-2502-9A20-05DAF87D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74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7E21-8FE8-C6CC-30B2-ECFB561F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3AEE0-FF92-4BD0-E489-516DBF389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C6ECA-C2B5-C113-3A87-22085AB5C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2BC07-99BC-2C1B-5AED-BAB799BA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FAD66-CEF4-175F-0C7B-00BFF15D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5628E-42AF-1C45-3C96-F09DC04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37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2041-5CB7-47D2-317D-05AAA5AA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71A3C-6E31-4D95-01C7-22FC09F8B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5095E-BAA4-4833-5E1D-C29D3FF25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DFE4D-0FE0-D8CE-E9F4-CE814643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2B9A5-E8DD-7A37-0A0A-1593C8CD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04BD1-3D4C-531E-0EC8-B474B838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42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E98F-E30C-F29E-2BBA-29878E72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1089A-4C1B-8CB1-3924-A7F2350DF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9893-6418-2B33-8BA3-54FBF198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741A-45F0-AB99-0F5D-48612ABF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1BED9-8E4C-5E9B-3052-9F275BB7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2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9588D-2342-302F-1DD3-011F7D0F1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07748-68CD-77C9-8180-0222D55F8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434CC-58FB-A535-F06B-643C7CDB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E5887-C36F-B731-E935-8168AB54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26BCA-29B0-92A5-352E-DD083514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4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BBD07-C1C9-E039-8A1B-42E3B3AE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E18C4-1424-E9BA-81D3-596C91EBE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1F0D8-545E-814D-5953-0683832A5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DA722-794D-418B-B091-D8072F9B2A9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9F7D1-60D2-FDCF-D3B0-DA40AA84A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A4B8-5C03-CF56-FA5A-AE6DDBBCC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2FD1F-8557-4D79-AA68-D290D0506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71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4E42AE-6EB5-936E-2926-EC1BDF97A224}"/>
              </a:ext>
            </a:extLst>
          </p:cNvPr>
          <p:cNvSpPr/>
          <p:nvPr/>
        </p:nvSpPr>
        <p:spPr>
          <a:xfrm>
            <a:off x="566928" y="758952"/>
            <a:ext cx="2642616" cy="5404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Left Navigation Panel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22CCE-BD07-D95F-855E-964FEF9CE21A}"/>
              </a:ext>
            </a:extLst>
          </p:cNvPr>
          <p:cNvSpPr txBox="1"/>
          <p:nvPr/>
        </p:nvSpPr>
        <p:spPr>
          <a:xfrm>
            <a:off x="688086" y="3461004"/>
            <a:ext cx="2521458" cy="107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Leadership View (selected) </a:t>
            </a:r>
          </a:p>
          <a:p>
            <a:pPr fontAlgn="t">
              <a:lnSpc>
                <a:spcPts val="1500"/>
              </a:lnSpc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Regional View</a:t>
            </a:r>
          </a:p>
          <a:p>
            <a:pPr fontAlgn="t">
              <a:lnSpc>
                <a:spcPts val="1500"/>
              </a:lnSpc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Resource Finder</a:t>
            </a:r>
          </a:p>
          <a:p>
            <a:pPr fontAlgn="t">
              <a:lnSpc>
                <a:spcPts val="1500"/>
              </a:lnSpc>
              <a:buNone/>
            </a:pPr>
            <a:r>
              <a:rPr lang="en-IN" sz="16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Resource Admin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9C547-EBE4-C9D5-3FF2-F9308B941BF8}"/>
              </a:ext>
            </a:extLst>
          </p:cNvPr>
          <p:cNvSpPr txBox="1"/>
          <p:nvPr/>
        </p:nvSpPr>
        <p:spPr>
          <a:xfrm>
            <a:off x="3687318" y="1846139"/>
            <a:ext cx="7716012" cy="322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KPIs (cards)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Total Resources, Active Projects, Utilization, Bench Count, Allocations ending in 30/60/90 days</a:t>
            </a: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Breakdowns (charts)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Region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(NA vs GGM)</a:t>
            </a: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Tower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(e.g., ELN, LOTF, CMC, Omics) </a:t>
            </a:r>
            <a:endParaRPr lang="en-IN" b="0" i="0" u="none" strike="noStrike" dirty="0">
              <a:solidFill>
                <a:srgbClr val="464FE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Pipeline panel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Simple table of upcoming opportunities and predicted skill demand</a:t>
            </a: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Watchlist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Resources whose </a:t>
            </a:r>
            <a:r>
              <a:rPr lang="en-IN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end_date</a:t>
            </a:r>
            <a:r>
              <a:rPr lang="en-I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soon; high‑demand skills (e.g., Benchling, Biovia, IDBS, Genedata Biologics, TetraScience) highlighted for redeployments</a:t>
            </a:r>
          </a:p>
        </p:txBody>
      </p:sp>
    </p:spTree>
    <p:extLst>
      <p:ext uri="{BB962C8B-B14F-4D97-AF65-F5344CB8AC3E}">
        <p14:creationId xmlns:p14="http://schemas.microsoft.com/office/powerpoint/2010/main" val="525826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D3F1AC-0231-BF41-B93B-65E3E4A2A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806266"/>
              </p:ext>
            </p:extLst>
          </p:nvPr>
        </p:nvGraphicFramePr>
        <p:xfrm>
          <a:off x="838200" y="1764792"/>
          <a:ext cx="10515600" cy="3716349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812978032"/>
                    </a:ext>
                  </a:extLst>
                </a:gridCol>
              </a:tblGrid>
              <a:tr h="2776875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Regional View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Two subpages with the same widgets as Leadership, but filtered: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NA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: US/Canada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GGM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: Europe + APAC (France, UK, Netherlands, India, etc.) </a:t>
                      </a:r>
                      <a:endParaRPr lang="en-IN" b="0" i="0" u="none" strike="noStrike" dirty="0">
                        <a:solidFill>
                          <a:srgbClr val="464FEB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Each regional dashboard shows: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KPIs scoped to region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Charts by Tower / Practice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Upcoming availability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Top products/skills coverage in that region (Benchling/ELN etc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54082"/>
                  </a:ext>
                </a:extLst>
              </a:tr>
              <a:tr h="55595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8335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41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D0211D-5A2A-6AA6-1FC7-370279C05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53886"/>
              </p:ext>
            </p:extLst>
          </p:nvPr>
        </p:nvGraphicFramePr>
        <p:xfrm>
          <a:off x="965200" y="1185348"/>
          <a:ext cx="10675112" cy="4530716"/>
        </p:xfrm>
        <a:graphic>
          <a:graphicData uri="http://schemas.openxmlformats.org/drawingml/2006/table">
            <a:tbl>
              <a:tblPr/>
              <a:tblGrid>
                <a:gridCol w="10675112">
                  <a:extLst>
                    <a:ext uri="{9D8B030D-6E8A-4147-A177-3AD203B41FA5}">
                      <a16:colId xmlns:a16="http://schemas.microsoft.com/office/drawing/2014/main" val="2256121595"/>
                    </a:ext>
                  </a:extLst>
                </a:gridCol>
              </a:tblGrid>
              <a:tr h="4058601"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Resource Finder (Structured + Free‑text Search)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A. Structured filters (left pane)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Skillsets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(multiselect; sourced from </a:t>
                      </a: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Primary/Secondary Skill Set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, normalized) 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Tower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Products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(Benchling, Biovia, Revvity, IDBS, TetraScience, Genedata…)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Availability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(Available now / &lt;30 / &lt;60 / &lt;90 days)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Country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(multiselect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Work Location Type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(Onsite / Offshore / Hybrid)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Grade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(A/SA/AD/SM/M/CWR/PA…) </a:t>
                      </a:r>
                      <a:endParaRPr lang="en-IN" sz="1700" b="0" i="0" u="none" strike="noStrike" dirty="0">
                        <a:solidFill>
                          <a:srgbClr val="464FEB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endParaRPr lang="en-IN" sz="1700" b="1" i="0" u="none" strike="noStrike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B. Free‑text search (top bar)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One box across: Name, Role Title, Skills, Products, Certifications, Status Notes (e.g., “Will be extended till Mar’26”, “Available from Jan’26”) 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endParaRPr lang="en-IN" sz="1700" b="0" i="0" u="none" strike="noStrike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C. Results (</a:t>
                      </a:r>
                      <a:r>
                        <a:rPr lang="en-IN" sz="1700" b="1" i="0" u="none" strike="noStrike" dirty="0" err="1">
                          <a:effectLst/>
                          <a:latin typeface="Segoe UI" panose="020B0502040204020203" pitchFamily="34" charset="0"/>
                        </a:rPr>
                        <a:t>center</a:t>
                      </a: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 pane)</a:t>
                      </a: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Cards list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with: Name, Grade, Role, Country/City, Key skills/products, allocation %, end date, </a:t>
                      </a: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Available from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, and quick actions (View profile, Message, Add to shortlist)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Sort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: relevance, soonest available, grade, country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Save search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+ </a:t>
                      </a:r>
                      <a:r>
                        <a:rPr lang="en-IN" sz="1700" b="1" i="0" u="none" strike="noStrike" dirty="0">
                          <a:effectLst/>
                          <a:latin typeface="Segoe UI" panose="020B0502040204020203" pitchFamily="34" charset="0"/>
                        </a:rPr>
                        <a:t>Export</a:t>
                      </a:r>
                      <a:r>
                        <a:rPr lang="en-IN" sz="1700" b="0" i="0" u="none" strike="noStrike" dirty="0">
                          <a:effectLst/>
                          <a:latin typeface="Segoe UI" panose="020B0502040204020203" pitchFamily="34" charset="0"/>
                        </a:rPr>
                        <a:t> (CSV)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512" marR="85512" marT="42756" marB="42756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65629"/>
                  </a:ext>
                </a:extLst>
              </a:tr>
              <a:tr h="4275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512" marR="85512" marT="42756" marB="42756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941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16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7C4F6C-E8E0-870E-0449-EF90DD3E5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9705"/>
              </p:ext>
            </p:extLst>
          </p:nvPr>
        </p:nvGraphicFramePr>
        <p:xfrm>
          <a:off x="838200" y="1069848"/>
          <a:ext cx="10515600" cy="4827182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57907461"/>
                    </a:ext>
                  </a:extLst>
                </a:gridCol>
              </a:tblGrid>
              <a:tr h="398023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Resource Admin (Add / Update UI)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IN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Minimal edit form (the lean set)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IN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Identity: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Associate ID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Associate Name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Grade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Department Name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endParaRPr lang="en-IN" b="0" i="0" u="none" strike="noStrike" dirty="0">
                        <a:solidFill>
                          <a:srgbClr val="464FEB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u="none" strike="noStrike" dirty="0">
                        <a:solidFill>
                          <a:srgbClr val="464FEB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Location: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Country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State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City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+ </a:t>
                      </a:r>
                      <a:r>
                        <a:rPr lang="en-IN" b="0" i="0" dirty="0" err="1">
                          <a:effectLst/>
                          <a:latin typeface="Courier New" panose="02070309020205020404" pitchFamily="49" charset="0"/>
                        </a:rPr>
                        <a:t>work_location_type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(new)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Role: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Current Role (Tech/Functional/Process)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Current Role Title</a:t>
                      </a: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Skills: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Primary Skill Set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 err="1">
                          <a:effectLst/>
                          <a:latin typeface="Segoe UI" panose="020B0502040204020203" pitchFamily="34" charset="0"/>
                        </a:rPr>
                        <a:t>Seconday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 Skill Set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LS Product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(multiselect)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Certifications (If any)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Org: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Practice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Tower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(and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Skill Family – Prism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Tech Skill Set – Prism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if relevant)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Assignment: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Project Id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Project Name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Allocation %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Start Date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End Date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Links: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Profile Link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Profile Updated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IN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i="1">
                          <a:effectLst/>
                          <a:latin typeface="Segoe UI" panose="020B0502040204020203" pitchFamily="34" charset="0"/>
                        </a:rPr>
                        <a:t>Validation</a:t>
                      </a:r>
                      <a:r>
                        <a:rPr lang="en-IN" b="0" i="1" dirty="0"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 enforce required fields: </a:t>
                      </a:r>
                      <a:r>
                        <a:rPr lang="en-IN" b="0" i="0" dirty="0" err="1">
                          <a:effectLst/>
                          <a:latin typeface="Segoe UI" panose="020B0502040204020203" pitchFamily="34" charset="0"/>
                        </a:rPr>
                        <a:t>associate_id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0" i="0" dirty="0" err="1">
                          <a:effectLst/>
                          <a:latin typeface="Segoe UI" panose="020B0502040204020203" pitchFamily="34" charset="0"/>
                        </a:rPr>
                        <a:t>full_name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n-IN" b="0" i="0" dirty="0" err="1">
                          <a:effectLst/>
                          <a:latin typeface="Segoe UI" panose="020B0502040204020203" pitchFamily="34" charset="0"/>
                        </a:rPr>
                        <a:t>role_type</a:t>
                      </a:r>
                      <a:r>
                        <a:rPr lang="en-IN" b="0" i="0" dirty="0">
                          <a:effectLst/>
                          <a:latin typeface="Segoe UI" panose="020B0502040204020203" pitchFamily="34" charset="0"/>
                        </a:rPr>
                        <a:t>, country, at least one skill or product, and either (allocation% &amp; dates) or an explicit availability flag.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990207"/>
                  </a:ext>
                </a:extLst>
              </a:tr>
              <a:tr h="52378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71516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78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528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Meiryo</vt:lpstr>
      <vt:lpstr>Aptos</vt:lpstr>
      <vt:lpstr>Aptos Display</vt:lpstr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Premraj, Preeti (Cognizant)</dc:creator>
  <cp:lastModifiedBy>Premraj, Preeti (Cognizant)</cp:lastModifiedBy>
  <cp:revision>1</cp:revision>
  <dcterms:created xsi:type="dcterms:W3CDTF">2026-01-05T02:25:37Z</dcterms:created>
  <dcterms:modified xsi:type="dcterms:W3CDTF">2026-01-05T03:44:08Z</dcterms:modified>
</cp:coreProperties>
</file>